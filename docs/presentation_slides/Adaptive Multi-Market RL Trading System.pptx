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Urbanist SemiBold"/>
      <p:regular r:id="rId12"/>
      <p:bold r:id="rId13"/>
      <p:italic r:id="rId14"/>
      <p:boldItalic r:id="rId15"/>
    </p:embeddedFon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9C1666-79E6-4BDD-9E97-20069FB4DCA8}">
  <a:tblStyle styleId="{7D9C1666-79E6-4BDD-9E97-20069FB4DC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UrbanistSemiBold-regular.fntdata"/><Relationship Id="rId13" Type="http://schemas.openxmlformats.org/officeDocument/2006/relationships/font" Target="fonts/UrbanistSemiBold-bold.fntdata"/><Relationship Id="rId14" Type="http://schemas.openxmlformats.org/officeDocument/2006/relationships/font" Target="fonts/UrbanistSemiBold-italic.fntdata"/><Relationship Id="rId15" Type="http://schemas.openxmlformats.org/officeDocument/2006/relationships/font" Target="fonts/UrbanistSemiBold-boldItalic.fntdata"/><Relationship Id="rId16" Type="http://schemas.openxmlformats.org/officeDocument/2006/relationships/font" Target="fonts/Urbanist-regular.fntdata"/><Relationship Id="rId17" Type="http://schemas.openxmlformats.org/officeDocument/2006/relationships/font" Target="fonts/Urbanist-bold.fntdata"/><Relationship Id="rId18" Type="http://schemas.openxmlformats.org/officeDocument/2006/relationships/font" Target="fonts/Urbanist-italic.fntdata"/><Relationship Id="rId19" Type="http://schemas.openxmlformats.org/officeDocument/2006/relationships/font" Target="fonts/Urbanis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image" Target="../media/image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6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1531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60570" y="1832669"/>
            <a:ext cx="6870858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Adaptive Multi-Market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EC4B6"/>
                </a:solidFill>
                <a:latin typeface="Urbanist"/>
                <a:ea typeface="Urbanist"/>
                <a:cs typeface="Urbanist"/>
                <a:sym typeface="Urbanist"/>
              </a:rPr>
              <a:t>Reinforcement Learning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Trading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225081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Risk-Aware Algorithmic Advisor designed to dynamically optimize financial trading strategies across volatile market regimes.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6305550"/>
            <a:ext cx="1933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CM3070 Final Project Submission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877175" y="6305550"/>
            <a:ext cx="3543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University of London BSc Computer Science Final Project (CM3070)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62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66912"/>
            <a:ext cx="33591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1966912"/>
            <a:ext cx="33591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1966912"/>
            <a:ext cx="33591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61531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6305550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CM3070 Final Project | Adaptive RL Advisor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44225" y="630555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Slide 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7596" y="3148012"/>
            <a:ext cx="27070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Adaptive State Tracking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62050" y="3938587"/>
            <a:ext cx="25781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Captures dynamic macroeconomic variations and micro-structural regime shifts without losing historical performance baselines.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42545" y="3148012"/>
            <a:ext cx="27070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Risk-Aware Penalties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06999" y="3614737"/>
            <a:ext cx="25781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Directly constraints aggressive allocation decisions through custom reward adjustments, preventing sudden tail risk event exposure.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87495" y="3148012"/>
            <a:ext cx="27070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Optimized Execution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51949" y="3614737"/>
            <a:ext cx="25781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Leverages policy parameter spaces to efficiently discover profitable routes through highly dimensional trade execution regimes.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22450" y="23955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7400" y="23955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40924" y="23955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62025" y="5810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C4B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SYSTEM PILLARS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62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76400"/>
            <a:ext cx="50387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1531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6305550"/>
            <a:ext cx="3095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System Framework | React + FastAPI Implementation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953750" y="6305550"/>
            <a:ext cx="466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Slide 03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71525" y="1676400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EC4B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Unified Data &amp; Policy Engine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685925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2143125"/>
            <a:ext cx="5038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Unified Data Pipeline:</a:t>
            </a: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financial metrics and stream ingestion for high-fidelity state representation.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2905125"/>
            <a:ext cx="5038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PPO with Transformer Extractor:</a:t>
            </a: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Training engine using Proximal Policy Optimization with a custom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DeepTransformerExtractor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capture long-range temporal dependencies.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238625"/>
            <a:ext cx="5038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Explainable AI (XAI):</a:t>
            </a: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Integrated engine for feature and policy attribution maps, providing quantitative transparency.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71525" y="5286375"/>
            <a:ext cx="5038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Frontend Interface:</a:t>
            </a: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 (Vite)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web interface served by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backend.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62025" y="5810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C4B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TECHNICAL ARCHITECTURE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62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4500"/>
            <a:ext cx="50387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943475"/>
            <a:ext cx="2424112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4943475"/>
            <a:ext cx="2424112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1531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6305550"/>
            <a:ext cx="2066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Rigorous Out-of-Sample Validation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944225" y="630555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Slide 04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1714500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Methodology: 5-Fold Walk-Forward Validation (WFV)</a:t>
            </a:r>
            <a:endParaRPr/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771525" y="219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{7D9C1666-79E6-4BDD-9E97-20069FB4DCA8}</a:tableStyleId>
              </a:tblPr>
              <a:tblGrid>
                <a:gridCol w="2303400"/>
                <a:gridCol w="1362825"/>
                <a:gridCol w="1372500"/>
              </a:tblGrid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C4B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Performance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C4B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RL Advisor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C4B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Buy &amp; 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Overall Net Return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+11.11%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+24.67%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C4B6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Annualized Sharpe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 Drawdown (DD)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5.30%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~15.00%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1724025"/>
            <a:ext cx="50196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771525" y="2771775"/>
            <a:ext cx="2303412" cy="1905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074937" y="2771775"/>
            <a:ext cx="1362819" cy="1905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437757" y="2771775"/>
            <a:ext cx="1372492" cy="1905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71525" y="3405187"/>
            <a:ext cx="2303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074937" y="3405187"/>
            <a:ext cx="13628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437757" y="3405187"/>
            <a:ext cx="13724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71525" y="4024312"/>
            <a:ext cx="2303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074937" y="4024312"/>
            <a:ext cx="13628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437757" y="4024312"/>
            <a:ext cx="13724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71525" y="4643437"/>
            <a:ext cx="23034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074937" y="4643437"/>
            <a:ext cx="13628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437757" y="4643437"/>
            <a:ext cx="13724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047750" y="5181600"/>
            <a:ext cx="19097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0.9991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47750" y="5591175"/>
            <a:ext cx="19097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MEAN XAI FIDELITY (RHO)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662362" y="5181600"/>
            <a:ext cx="19097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-4.91%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662362" y="5591175"/>
            <a:ext cx="19097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MEAN DRAWDOWN (DD)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62025" y="5810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C4B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PERFORMANCE EVALUATION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62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1531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71525" y="6305550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Strategic Development Plan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944225" y="6305550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Slide 05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71525" y="3675249"/>
            <a:ext cx="106491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12957" y="34671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4B6"/>
                </a:solidFill>
                <a:latin typeface="Urbanist"/>
                <a:ea typeface="Urbanist"/>
                <a:cs typeface="Urbanist"/>
                <a:sym typeface="Urbanist"/>
              </a:rPr>
              <a:t>Phase 01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71525" y="3819525"/>
            <a:ext cx="234270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HMM Optimizations: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Classifying market regimes to filter noise.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481607" y="34671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4B6"/>
                </a:solidFill>
                <a:latin typeface="Urbanist"/>
                <a:ea typeface="Urbanist"/>
                <a:cs typeface="Urbanist"/>
                <a:sym typeface="Urbanist"/>
              </a:rPr>
              <a:t>Phase 02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540174" y="3819525"/>
            <a:ext cx="234270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Cross-Asset Training: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Expanding weights to correlated groups.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250256" y="34671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4B6"/>
                </a:solidFill>
                <a:latin typeface="Urbanist"/>
                <a:ea typeface="Urbanist"/>
                <a:cs typeface="Urbanist"/>
                <a:sym typeface="Urbanist"/>
              </a:rPr>
              <a:t>Phase 03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308824" y="3819525"/>
            <a:ext cx="234270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Retail User Beta: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Feedback from non-technical target audience.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018906" y="34671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EC4B6"/>
                </a:solidFill>
                <a:latin typeface="Urbanist"/>
                <a:ea typeface="Urbanist"/>
                <a:cs typeface="Urbanist"/>
                <a:sym typeface="Urbanist"/>
              </a:rPr>
              <a:t>Phase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077473" y="3819525"/>
            <a:ext cx="234270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UI Refinement: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Interface polish and feature expansion.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62025" y="5810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C4B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HORIZONS &amp; EXPANSION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771525" y="581025"/>
            <a:ext cx="47625" cy="485775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828502" y="30480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 cap="flat" cmpd="sng" w="38100">
            <a:solidFill>
              <a:srgbClr val="011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97151" y="30480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 cap="flat" cmpd="sng" w="38100">
            <a:solidFill>
              <a:srgbClr val="011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365801" y="30480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 cap="flat" cmpd="sng" w="38100">
            <a:solidFill>
              <a:srgbClr val="011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0134451" y="30480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EC4B6"/>
          </a:solidFill>
          <a:ln cap="flat" cmpd="sng" w="38100">
            <a:solidFill>
              <a:srgbClr val="011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